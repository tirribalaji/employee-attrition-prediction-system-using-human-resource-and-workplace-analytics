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raunces Light"/>
      <p:regular r:id="rId201314"/>
    </p:embeddedFont>
    <p:embeddedFont>
      <p:font typeface="Fraunces Thin"/>
      <p:regular r:id="rId201315"/>
    </p:embeddedFont>
    <p:embeddedFont>
      <p:font typeface="Fraunces ExtraLight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SemiBold"/>
      <p:regular r:id="rId201319"/>
    </p:embeddedFont>
    <p:embeddedFont>
      <p:font typeface="Fraunces Bold"/>
      <p:regular r:id="rId201320"/>
    </p:embeddedFont>
    <p:embeddedFont>
      <p:font typeface="Fraunces ExtraBold"/>
      <p:regular r:id="rId201321"/>
    </p:embeddedFont>
    <p:embeddedFont>
      <p:font typeface="Fraunces Black"/>
      <p:regular r:id="rId201322"/>
    </p:embeddedFont>
    <p:embeddedFont>
      <p:font typeface="Nobile"/>
      <p:regular r:id="rId201323"/>
    </p:embeddedFont>
    <p:embeddedFont>
      <p:font typeface="Nobile Medium"/>
      <p:regular r:id="rId201324"/>
    </p:embeddedFont>
    <p:embeddedFont>
      <p:font typeface="Nobile 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Employee Attrition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Using Human Resource and Workplace Analytics to proactively identify resignation risk, reduce talent loss, and strengthen workforce planning through machine learning.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33316"/>
            <a:ext cx="999753" cy="215354"/>
          </a:xfrm>
          <a:prstGeom prst="roundRect">
            <a:avLst>
              <a:gd name="adj" fmla="val 47398"/>
            </a:avLst>
          </a:prstGeom>
          <a:solidFill>
            <a:srgbClr val="DDEEE0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75806"/>
            <a:ext cx="12868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HR ANALYTICS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95714" y="3433316"/>
            <a:ext cx="1327175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769" y="3475806"/>
            <a:ext cx="161426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93731" y="3433316"/>
            <a:ext cx="1715095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8786" y="3475806"/>
            <a:ext cx="200218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WORKFORCE INTELLIGENCE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8831"/>
            <a:ext cx="4722763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Hidden Cost of Employee Attrition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96119" y="1192932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Voluntary turnover is one of the most expensive and disruptive challenges organizations face — yet most companies still react after the fact.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96119" y="1580257"/>
            <a:ext cx="4722763" cy="728811"/>
          </a:xfrm>
          <a:prstGeom prst="roundRect">
            <a:avLst>
              <a:gd name="adj" fmla="val 13130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602382" y="1686520"/>
            <a:ext cx="4510236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💸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Recruitment Costs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2382" y="1905149"/>
            <a:ext cx="4510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Replacing an employee costs 50–200% of their annual salary in hiring, onboarding, and training.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96119" y="2388766"/>
            <a:ext cx="4722763" cy="728811"/>
          </a:xfrm>
          <a:prstGeom prst="roundRect">
            <a:avLst>
              <a:gd name="adj" fmla="val 13130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602382" y="2495029"/>
            <a:ext cx="4510236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Productivity Loss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2382" y="2713658"/>
            <a:ext cx="4510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Departing employees create knowledge gaps and reduce team output for weeks or months.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96119" y="3197275"/>
            <a:ext cx="4722763" cy="728811"/>
          </a:xfrm>
          <a:prstGeom prst="roundRect">
            <a:avLst>
              <a:gd name="adj" fmla="val 13130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602382" y="3303538"/>
            <a:ext cx="4510236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Talent Drain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2382" y="3522166"/>
            <a:ext cx="4510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performers leaving take institutional knowledge, client relationships, and competitive advantage with them.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96119" y="4005783"/>
            <a:ext cx="4722763" cy="728811"/>
          </a:xfrm>
          <a:prstGeom prst="roundRect">
            <a:avLst>
              <a:gd name="adj" fmla="val 13130"/>
            </a:avLst>
          </a:prstGeom>
          <a:solidFill>
            <a:srgbClr val="E8F3E8"/>
          </a:solidFill>
          <a:ln/>
        </p:spPr>
      </p:sp>
      <p:sp>
        <p:nvSpPr>
          <p:cNvPr id="15" name="Text 12"/>
          <p:cNvSpPr/>
          <p:nvPr/>
        </p:nvSpPr>
        <p:spPr>
          <a:xfrm>
            <a:off x="602382" y="4112047"/>
            <a:ext cx="4510236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Organizational Impact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2382" y="4330675"/>
            <a:ext cx="4510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Frequent attrition lowers morale, increases workload on remaining staff, and degrades overall performance.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525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From Reactive to Proactive: Why Data-Driven Retention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16484"/>
            <a:ext cx="5209729" cy="29304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4510" y="2049289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Limitations of Traditional Methods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4510" y="2288381"/>
            <a:ext cx="2688059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Exit interviews, manager intuition, and annual engagement surveys identify problems too late — after resignation letters are already submitted.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18806"/>
            <a:ext cx="2666256" cy="7341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1661" y="4137199"/>
            <a:ext cx="237232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Lagging Indicators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71661" y="4345707"/>
            <a:ext cx="237232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Traditional signals surface only after an employee has mentally disengaged.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8798" y="4018806"/>
            <a:ext cx="2666330" cy="7341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14340" y="4137199"/>
            <a:ext cx="237239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 Predictive Power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414340" y="4345707"/>
            <a:ext cx="2372395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reviews cannot process the volume of signals needed for early detection.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1551" y="4018806"/>
            <a:ext cx="2666256" cy="7341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7094" y="4137199"/>
            <a:ext cx="237232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Inconsistent Decisions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57094" y="4345707"/>
            <a:ext cx="237232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Human judgment varies across managers, creating bias and blind spots.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Architecture Overview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layered, cloud-native architecture ensures security, scalability, and real-time intelligence across the entire workforce analytics platform.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54265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Architectural Principles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663232" y="2688803"/>
            <a:ext cx="3989412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Microservices-based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each module independently deployable and scalable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API-first design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RESTful interfaces for HRMS and third-party integrations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Role-based access control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RBAC enforced at every layer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Cloud-native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containerized on Kubernetes for high availability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Audit-ready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full logging for compliance and traceability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Machine Learning Prediction Pipeline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8151763" cy="3668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4067" y="878597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24067" y="1161749"/>
            <a:ext cx="1426538" cy="26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Gather and validate HR signals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34929" y="3629778"/>
            <a:ext cx="1434376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34929" y="3912930"/>
            <a:ext cx="1434376" cy="26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Clean and engineer predictive features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30115" y="851163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30115" y="1134315"/>
            <a:ext cx="1426538" cy="26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Select algorithms and train models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0977" y="3629778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40977" y="3912930"/>
            <a:ext cx="1426539" cy="26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Score, monitor, and iterate continuously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39020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pipeline ingests structured HR data — tenure, salary, performance ratings, department, commute distance, and engagement signals — to produce calibrated attrition probability scores for every employee.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496119" y="455049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Classification Algorithms Evaluated</a:t>
            </a:r>
            <a:endParaRPr lang="en-US" sz="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684" y="4703229"/>
            <a:ext cx="106263" cy="1062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430" y="4701034"/>
            <a:ext cx="375910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Logistic Regression &amp; Decision Trees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726430" y="4847183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Baseline models for interpretability</a:t>
            </a:r>
            <a:endParaRPr lang="en-US" sz="5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684" y="5005276"/>
            <a:ext cx="106263" cy="10626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430" y="5003081"/>
            <a:ext cx="375910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Random Forest &amp; Gradient Boosting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726430" y="5149230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Ensemble methods for robustness</a:t>
            </a:r>
            <a:endParaRPr lang="en-US" sz="5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2684" y="5307323"/>
            <a:ext cx="106263" cy="10626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430" y="5305127"/>
            <a:ext cx="375910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XGBoost &amp; Neural Networks</a:t>
            </a:r>
            <a:endParaRPr lang="en-US" sz="650" dirty="0"/>
          </a:p>
        </p:txBody>
      </p:sp>
      <p:sp>
        <p:nvSpPr>
          <p:cNvPr id="22" name="Text 16"/>
          <p:cNvSpPr/>
          <p:nvPr/>
        </p:nvSpPr>
        <p:spPr>
          <a:xfrm>
            <a:off x="726430" y="5451277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High-performance models for production</a:t>
            </a:r>
            <a:endParaRPr lang="en-US" sz="550" dirty="0"/>
          </a:p>
        </p:txBody>
      </p:sp>
      <p:sp>
        <p:nvSpPr>
          <p:cNvPr id="23" name="Text 17"/>
          <p:cNvSpPr/>
          <p:nvPr/>
        </p:nvSpPr>
        <p:spPr>
          <a:xfrm>
            <a:off x="4663232" y="455049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Evaluation Metrics</a:t>
            </a:r>
            <a:endParaRPr lang="en-US" sz="650" dirty="0"/>
          </a:p>
        </p:txBody>
      </p:sp>
      <p:sp>
        <p:nvSpPr>
          <p:cNvPr id="24" name="Text 18"/>
          <p:cNvSpPr/>
          <p:nvPr/>
        </p:nvSpPr>
        <p:spPr>
          <a:xfrm>
            <a:off x="4663232" y="4696644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Accuracy, Precision, Recall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classification performance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F1-Score &amp; ROC-AUC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balance and discriminative power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Confusion Matrix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false positive/negative analysis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Prediction Confidence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calibrated probability scores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680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Core System Modules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30709"/>
            <a:ext cx="853455" cy="5274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88976"/>
            <a:ext cx="193982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Authentication &amp; Access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1942133"/>
            <a:ext cx="193982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login, RBAC, session management, and audit logging for compliance.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64" y="1030709"/>
            <a:ext cx="853455" cy="5274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6764" y="1688976"/>
            <a:ext cx="193982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Employee Profile Management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2566764" y="2132484"/>
            <a:ext cx="1939826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Centralized records including tenure, compensation, performance history, and career trajectory.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410" y="1030709"/>
            <a:ext cx="853455" cy="5274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37410" y="1688976"/>
            <a:ext cx="193982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HR Data Integration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637410" y="1942133"/>
            <a:ext cx="193982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ingestion from HRMS, payroll, and performance systems via REST APIs.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56" y="1030709"/>
            <a:ext cx="853455" cy="5274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08056" y="1688976"/>
            <a:ext cx="193982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Risk Assessment Engine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708056" y="1942133"/>
            <a:ext cx="193982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attrition scoring with explainable feature importance for HR teams.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066604"/>
            <a:ext cx="853455" cy="5274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724870"/>
            <a:ext cx="193982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Notification &amp; Reporting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96119" y="3978027"/>
            <a:ext cx="193982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alerts, scheduled reports, and intervention recommendations for managers.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6764" y="3066604"/>
            <a:ext cx="853455" cy="52744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66764" y="3724870"/>
            <a:ext cx="193982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Administration Panel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2566764" y="3978027"/>
            <a:ext cx="1939826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configuration, user management, model retraining triggers, and platform monitoring.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End-to-End Workflow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83676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workflow is continuous — model performance is monitored in production, and retraining is triggered automatically as new HR data becomes available, ensuring predictions stay accurate over time.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Technology Stack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6695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These Technologies?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18829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Python ecosystem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mature ML libraries and data tooling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React + D3.js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responsive, interactive dashboards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PostgreSQL + Redis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relational storage with low-latency caching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Docker + Kubernetes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containerized, auto-scaling deployment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REST APIs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seamless HRMS and third-party integration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956620"/>
            <a:ext cx="3986733" cy="200174"/>
          </a:xfrm>
          <a:prstGeom prst="roundRect">
            <a:avLst>
              <a:gd name="adj" fmla="val 32866"/>
            </a:avLst>
          </a:prstGeom>
          <a:solidFill>
            <a:srgbClr val="DDEE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985" y="3047926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3008709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components are open-standards based, enabling vendor flexibility and long-term maintainability.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46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89855"/>
            <a:ext cx="4722763" cy="567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Business Impact &amp; Real-World Applications</a:t>
            </a:r>
            <a:endParaRPr lang="en-US" sz="1750" dirty="0"/>
          </a:p>
        </p:txBody>
      </p:sp>
      <p:sp>
        <p:nvSpPr>
          <p:cNvPr id="4" name="Shape 1"/>
          <p:cNvSpPr/>
          <p:nvPr/>
        </p:nvSpPr>
        <p:spPr>
          <a:xfrm>
            <a:off x="3925119" y="1044550"/>
            <a:ext cx="4722763" cy="808062"/>
          </a:xfrm>
          <a:prstGeom prst="roundRect">
            <a:avLst>
              <a:gd name="adj" fmla="val 10115"/>
            </a:avLst>
          </a:prstGeom>
          <a:solidFill>
            <a:srgbClr val="E8F3E8"/>
          </a:solidFill>
          <a:ln/>
        </p:spPr>
      </p:sp>
      <p:sp>
        <p:nvSpPr>
          <p:cNvPr id="5" name="Shape 2"/>
          <p:cNvSpPr/>
          <p:nvPr/>
        </p:nvSpPr>
        <p:spPr>
          <a:xfrm>
            <a:off x="4015904" y="1135335"/>
            <a:ext cx="272430" cy="27243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0839" y="1210270"/>
            <a:ext cx="122560" cy="122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15904" y="1465883"/>
            <a:ext cx="454119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Early Risk Detection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015904" y="1642690"/>
            <a:ext cx="454119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at-risk employees 60–90 days before potential resignation.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3925119" y="1910730"/>
            <a:ext cx="4722763" cy="808062"/>
          </a:xfrm>
          <a:prstGeom prst="roundRect">
            <a:avLst>
              <a:gd name="adj" fmla="val 10115"/>
            </a:avLst>
          </a:prstGeom>
          <a:solidFill>
            <a:srgbClr val="E8F3E8"/>
          </a:solidFill>
          <a:ln/>
        </p:spPr>
      </p:sp>
      <p:sp>
        <p:nvSpPr>
          <p:cNvPr id="10" name="Shape 6"/>
          <p:cNvSpPr/>
          <p:nvPr/>
        </p:nvSpPr>
        <p:spPr>
          <a:xfrm>
            <a:off x="4015904" y="2001515"/>
            <a:ext cx="272430" cy="27243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0839" y="2076450"/>
            <a:ext cx="122560" cy="1225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15904" y="2332062"/>
            <a:ext cx="454119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Reduced Recruitment Costs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4015904" y="2508870"/>
            <a:ext cx="454119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Proactive retention cuts replacement spending by up to 40%.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3925119" y="2776910"/>
            <a:ext cx="4722763" cy="808062"/>
          </a:xfrm>
          <a:prstGeom prst="roundRect">
            <a:avLst>
              <a:gd name="adj" fmla="val 10115"/>
            </a:avLst>
          </a:prstGeom>
          <a:solidFill>
            <a:srgbClr val="E8F3E8"/>
          </a:solidFill>
          <a:ln/>
        </p:spPr>
      </p:sp>
      <p:sp>
        <p:nvSpPr>
          <p:cNvPr id="15" name="Shape 10"/>
          <p:cNvSpPr/>
          <p:nvPr/>
        </p:nvSpPr>
        <p:spPr>
          <a:xfrm>
            <a:off x="4015904" y="2867695"/>
            <a:ext cx="272430" cy="27243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0839" y="2942630"/>
            <a:ext cx="122560" cy="1225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15904" y="3198242"/>
            <a:ext cx="454119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Improved Workforce Planning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4015904" y="3375050"/>
            <a:ext cx="454119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Data-driven headcount forecasts and succession planning.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3925119" y="3643089"/>
            <a:ext cx="4722763" cy="808062"/>
          </a:xfrm>
          <a:prstGeom prst="roundRect">
            <a:avLst>
              <a:gd name="adj" fmla="val 10115"/>
            </a:avLst>
          </a:prstGeom>
          <a:solidFill>
            <a:srgbClr val="E8F3E8"/>
          </a:solidFill>
          <a:ln/>
        </p:spPr>
      </p:sp>
      <p:sp>
        <p:nvSpPr>
          <p:cNvPr id="20" name="Shape 14"/>
          <p:cNvSpPr/>
          <p:nvPr/>
        </p:nvSpPr>
        <p:spPr>
          <a:xfrm>
            <a:off x="4015904" y="3733874"/>
            <a:ext cx="272430" cy="272430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90839" y="3808809"/>
            <a:ext cx="122560" cy="1225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15904" y="4064422"/>
            <a:ext cx="454119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Enhanced Employee Satisfaction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4015904" y="4241229"/>
            <a:ext cx="454119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Timely interventions address concerns before they escalate.</a:t>
            </a:r>
            <a:endParaRPr lang="en-US" sz="700" dirty="0"/>
          </a:p>
        </p:txBody>
      </p:sp>
      <p:sp>
        <p:nvSpPr>
          <p:cNvPr id="24" name="Text 17"/>
          <p:cNvSpPr/>
          <p:nvPr/>
        </p:nvSpPr>
        <p:spPr>
          <a:xfrm>
            <a:off x="3925119" y="4516562"/>
            <a:ext cx="4722763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Applicable across IT companies, healthcare, manufacturing, BPOs, government agencies, educational institutions, and multinational corporations.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152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Challenges, Future Roadmap &amp; Conclusion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32197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Implementation Challenges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32533"/>
            <a:ext cx="3929955" cy="7318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7139" y="1466404"/>
            <a:ext cx="36050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Privacy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87139" y="1754163"/>
            <a:ext cx="36050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GDPR/HIPAA-compliant encryption and anonymization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165300"/>
            <a:ext cx="3929955" cy="7318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7139" y="2299171"/>
            <a:ext cx="36050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Algorithmic Bias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87139" y="2586930"/>
            <a:ext cx="36050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Fairness audits and bias mitigation in model training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98068"/>
            <a:ext cx="3929955" cy="7318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7139" y="3131939"/>
            <a:ext cx="36050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Imbalanced Data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87139" y="3419698"/>
            <a:ext cx="36050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SMOTE and class-weight techniques for rare attrition events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722688" y="1032197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Enhancements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2688" y="1332533"/>
            <a:ext cx="3929955" cy="7318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13709" y="1466404"/>
            <a:ext cx="36050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Explainable AI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4913709" y="1754163"/>
            <a:ext cx="36050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Transparent, interpretable predictions for HR stakeholders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2688" y="2165300"/>
            <a:ext cx="3929955" cy="7318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13709" y="2299171"/>
            <a:ext cx="36050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Sentiment Analysis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4913709" y="2586930"/>
            <a:ext cx="36050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NLP on employee feedback and communication patterns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2688" y="2998068"/>
            <a:ext cx="3929955" cy="90822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13709" y="3131939"/>
            <a:ext cx="36050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HRMS Integration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4913709" y="3419698"/>
            <a:ext cx="360506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Native connectors for Workday, SAP SuccessFactors, Oracle HCM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496119" y="4133255"/>
            <a:ext cx="8151763" cy="604093"/>
          </a:xfrm>
          <a:prstGeom prst="roundRect">
            <a:avLst>
              <a:gd name="adj" fmla="val 17821"/>
            </a:avLst>
          </a:prstGeom>
          <a:solidFill>
            <a:srgbClr val="B6FCB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702" y="4297040"/>
            <a:ext cx="149498" cy="11958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84783" y="4264000"/>
            <a:ext cx="764351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Key Takeaway: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By combining machine learning with workplace analytics, this system transforms HR from reactive to predictive — reducing attrition, cutting costs, and building a more resilient organization.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2026-07-28T05:26:41Z</dcterms:created>
  <dcterms:modified xsi:type="dcterms:W3CDTF">2026-07-28T05:26:41Z</dcterms:modified>
</cp:coreProperties>
</file>